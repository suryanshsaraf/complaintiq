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Calibri"/>
              </a:defRPr>
            </a:pPr>
            <a:r>
              <a:t>ACADEMIC CAPSTONE PROJECT  •  ENTERPRISE FINTECH AI &amp; REGULATORY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ComplaintIQ</a:t>
            </a:r>
          </a:p>
          <a:p>
            <a:pPr>
              <a:spcBef>
                <a:spcPts val="400"/>
              </a:spcBef>
              <a:defRPr sz="1400" b="1">
                <a:solidFill>
                  <a:srgbClr val="06B6D4"/>
                </a:solidFill>
                <a:latin typeface="Calibri"/>
              </a:defRPr>
            </a:pPr>
            <a:r>
              <a:t>Autonomous Financial Grievance Intelligence, Anomaly Detection &amp; Time-Series Forecasting Platform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Calibri"/>
              </a:defRPr>
            </a:pPr>
            <a:r>
              <a:t>An end-to-end decision-support system analyzing 6,956+ consumer financial complaints with sublinear TF-IDF, calibrated Linear SVM, NMF topic decomposition, rolling MAD seasonal surge detection, and damped Holt-Winters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254203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136392"/>
            <a:ext cx="221284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Aryan Turalkar</a:t>
            </a:r>
          </a:p>
          <a:p>
            <a:pPr>
              <a:spcBef>
                <a:spcPts val="200"/>
              </a:spcBef>
              <a:defRPr sz="1000" b="1">
                <a:solidFill>
                  <a:srgbClr val="818CF8"/>
                </a:solidFill>
                <a:latin typeface="Calibri"/>
              </a:defRPr>
            </a:pPr>
            <a:r>
              <a:t>Roll No: A152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  <a:latin typeface="Calibri"/>
              </a:defRPr>
            </a:pPr>
            <a:r>
              <a:t>NLP &amp; Classification Lead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TF-IDF vectorizer, negation handling, LinearSVC classifier, and Platt probability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971800"/>
            <a:ext cx="254203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3136392"/>
            <a:ext cx="221284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Suryansh Saraf</a:t>
            </a:r>
          </a:p>
          <a:p>
            <a:pPr>
              <a:spcBef>
                <a:spcPts val="200"/>
              </a:spcBef>
              <a:defRPr sz="1000" b="1">
                <a:solidFill>
                  <a:srgbClr val="818CF8"/>
                </a:solidFill>
                <a:latin typeface="Calibri"/>
              </a:defRPr>
            </a:pPr>
            <a:r>
              <a:t>Roll No: A-125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  <a:latin typeface="Calibri"/>
              </a:defRPr>
            </a:pPr>
            <a:r>
              <a:t>Full-Stack System Architect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React 18 Command Center, UI/UX design, FastAPI async REST API, and Cloudflare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971800"/>
            <a:ext cx="254203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3136392"/>
            <a:ext cx="221284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Soham Hande</a:t>
            </a:r>
          </a:p>
          <a:p>
            <a:pPr>
              <a:spcBef>
                <a:spcPts val="200"/>
              </a:spcBef>
              <a:defRPr sz="1000" b="1">
                <a:solidFill>
                  <a:srgbClr val="818CF8"/>
                </a:solidFill>
                <a:latin typeface="Calibri"/>
              </a:defRPr>
            </a:pPr>
            <a:r>
              <a:t>Roll No: A-129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  <a:latin typeface="Calibri"/>
              </a:defRPr>
            </a:pPr>
            <a:r>
              <a:t>Anomaly Detection Engineer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Day-of-Week rolling MAD z-scores, Isolation Forest ensemble, and surge severity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971800"/>
            <a:ext cx="254203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3136392"/>
            <a:ext cx="221284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Pratham Deepak</a:t>
            </a:r>
          </a:p>
          <a:p>
            <a:pPr>
              <a:spcBef>
                <a:spcPts val="200"/>
              </a:spcBef>
              <a:defRPr sz="1000" b="1">
                <a:solidFill>
                  <a:srgbClr val="818CF8"/>
                </a:solidFill>
                <a:latin typeface="Calibri"/>
              </a:defRPr>
            </a:pPr>
            <a:r>
              <a:t>Roll No: A-114</a:t>
            </a:r>
          </a:p>
          <a:p>
            <a:pPr>
              <a:spcBef>
                <a:spcPts val="400"/>
              </a:spcBef>
              <a:defRPr sz="950" b="1">
                <a:solidFill>
                  <a:srgbClr val="06B6D4"/>
                </a:solidFill>
                <a:latin typeface="Calibri"/>
              </a:defRPr>
            </a:pPr>
            <a:r>
              <a:t>Time-Series &amp; Operations Lead</a:t>
            </a:r>
          </a:p>
          <a:p>
            <a:pPr>
              <a:spcBef>
                <a:spcPts val="5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Additive damped Holt-Winters forecasting, incident alert lifecycle, and deduplication.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Calibri"/>
              </a:defRPr>
            </a:pPr>
            <a:r>
              <a:t>CORE TECHNOLOGY STACK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Frontend: React 18  •  TypeScript  •  TailwindCSS  •  Lucide Icons  •  Recharts  |  Backend: FastAPI  •  Python 3.13  •  Scikit-Learn  •  SQLite  •  Cloudflare Tunnel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ComplaintIQ Capstone Presentation  |  Team Members: Aryan Turalkar (A152), Suryansh Saraf (A-125), Soham Hande (A-129), Pratham Deepak (A-114)  |  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EXECUTIVE CONTEXT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Regulatory Grievance Bottleneck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Why manual triage, static threshold alerts, and black-box AI fail modern financial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36118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1. INGESTION &amp; TRIAGE LATENCY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Massive Complaint Scale: </a:t>
            </a:r>
            <a:r>
              <a:rPr sz="1000">
                <a:solidFill>
                  <a:srgbClr val="64748B"/>
                </a:solidFill>
                <a:latin typeface="Calibri"/>
              </a:rPr>
              <a:t>CFPB receives hundreds of thousands of customer disputes annually across multiple channels (Web, Phone, Mail, Referral).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Manual Routing Bottleneck: </a:t>
            </a:r>
            <a:r>
              <a:rPr sz="1000">
                <a:solidFill>
                  <a:srgbClr val="64748B"/>
                </a:solidFill>
                <a:latin typeface="Calibri"/>
              </a:rPr>
              <a:t>Human classification takes 24–72 hours per complaint, creating severe response delays and SLA penalties.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Unstructured Narratives: </a:t>
            </a:r>
            <a:r>
              <a:rPr sz="1000">
                <a:solidFill>
                  <a:srgbClr val="64748B"/>
                </a:solidFill>
                <a:latin typeface="Calibri"/>
              </a:rPr>
              <a:t>Complex, emotionally charged customer texts conceal the root financial problem, requiring extensive manual reading.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Operational Cost: </a:t>
            </a:r>
            <a:r>
              <a:rPr sz="1000">
                <a:solidFill>
                  <a:srgbClr val="64748B"/>
                </a:solidFill>
                <a:latin typeface="Calibri"/>
              </a:rPr>
              <a:t>Financial institutions spend millions on human reviewers just performing basic category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36118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2. UNDETECTED SYSTEMIC SURGES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Hidden Infrastructure Glitches: </a:t>
            </a:r>
            <a:r>
              <a:rPr sz="1000">
                <a:solidFill>
                  <a:srgbClr val="64748B"/>
                </a:solidFill>
                <a:latin typeface="Calibri"/>
              </a:rPr>
              <a:t>Systemic failures (e.g. gateway timeouts, improper loan escrow deductions) remain hidden until customer churn peaks.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Weekend Seasonality Trap: </a:t>
            </a:r>
            <a:r>
              <a:rPr sz="1000">
                <a:solidFill>
                  <a:srgbClr val="64748B"/>
                </a:solidFill>
                <a:latin typeface="Calibri"/>
              </a:rPr>
              <a:t>Static thresholds fail due to 70% volume drops on weekends: Monday surges trigger false alarms, Saturday spikes are missed.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Alert Fatigue: </a:t>
            </a:r>
            <a:r>
              <a:rPr sz="1000">
                <a:solidFill>
                  <a:srgbClr val="64748B"/>
                </a:solidFill>
                <a:latin typeface="Calibri"/>
              </a:rPr>
              <a:t>Naïve alert systems flood compliance teams with duplicate notifications, leading to critical warnings being ignored.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Regulatory Penalties: </a:t>
            </a:r>
            <a:r>
              <a:rPr sz="1000">
                <a:solidFill>
                  <a:srgbClr val="64748B"/>
                </a:solidFill>
                <a:latin typeface="Calibri"/>
              </a:rPr>
              <a:t>Failure to detect systemic spikes quickly leads to massive regulatory fines and public enforcement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965960"/>
            <a:ext cx="2999232" cy="36118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3. BLACK-BOX AI &amp; PLANNING VOID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Strict Regulatory Auditing: </a:t>
            </a:r>
            <a:r>
              <a:rPr sz="1000">
                <a:solidFill>
                  <a:srgbClr val="64748B"/>
                </a:solidFill>
                <a:latin typeface="Calibri"/>
              </a:rPr>
              <a:t>Compliance officers cannot adopt 'black-box' deep learning models that cannot provide token-level mathematical proof.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Uncalibrated Confidence: </a:t>
            </a:r>
            <a:r>
              <a:rPr sz="1000">
                <a:solidFill>
                  <a:srgbClr val="64748B"/>
                </a:solidFill>
                <a:latin typeface="Calibri"/>
              </a:rPr>
              <a:t>Raw model scores misrepresent actual uncertainty, leading to dangerous automated misrouting.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Zero Predictive Capacity: </a:t>
            </a:r>
            <a:r>
              <a:rPr sz="1000">
                <a:solidFill>
                  <a:srgbClr val="64748B"/>
                </a:solidFill>
                <a:latin typeface="Calibri"/>
              </a:rPr>
              <a:t>Operations managers react to spikes after they occur rather than forecasting staffing needs 14–30 days in advance.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Disconnected Tooling: </a:t>
            </a:r>
            <a:r>
              <a:rPr sz="1000">
                <a:solidFill>
                  <a:srgbClr val="64748B"/>
                </a:solidFill>
                <a:latin typeface="Calibri"/>
              </a:rPr>
              <a:t>ML models rarely integrate into an actionable incident triage workflow with audit histories.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728655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16168"/>
            <a:ext cx="103628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PROJECT OBJECTIVE: Deliver an end-to-end, sub-50ms explainable triage platform with seasonality-aware anomaly detection and capacity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Decoupled Multi-Tier System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High-throughput pipeline uniting supervised/unsupervised machine learning microservices with an interactive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TIER 1: INGESTION &amp; PREPROCESSING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CFPB Complaint Corpus: </a:t>
            </a:r>
            <a:r>
              <a:rPr sz="1000">
                <a:solidFill>
                  <a:srgbClr val="64748B"/>
                </a:solidFill>
                <a:latin typeface="Calibri"/>
              </a:rPr>
              <a:t>6,956 real-world consumer complaints across 5 core financial products: Credit Cards, Mortgages, Student Loans, Debt Collection, Bank Accounts.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Text Normalization: </a:t>
            </a:r>
            <a:r>
              <a:rPr sz="1000">
                <a:solidFill>
                  <a:srgbClr val="64748B"/>
                </a:solidFill>
                <a:latin typeface="Calibri"/>
              </a:rPr>
              <a:t>Regex cleaning, punctuation stripping, lowercasing, and custom financial stopword filtering.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Negation Tokenizer: </a:t>
            </a:r>
            <a:r>
              <a:rPr sz="1000">
                <a:solidFill>
                  <a:srgbClr val="64748B"/>
                </a:solidFill>
                <a:latin typeface="Calibri"/>
              </a:rPr>
              <a:t>Binds negations to adjacent words (e.g., 'not_received', 'no_refund') preserving crucial semantic polarity.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Sublinear TF-IDF Vectorizer: </a:t>
            </a:r>
            <a:r>
              <a:rPr sz="1000">
                <a:solidFill>
                  <a:srgbClr val="64748B"/>
                </a:solidFill>
                <a:latin typeface="Calibri"/>
              </a:rPr>
              <a:t>Applies 1 + log(tf) scaling to suppress repetitive legal boilerplate; extracts top 10,000 unigram &amp; bigram features.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Data Integrity: </a:t>
            </a:r>
            <a:r>
              <a:rPr sz="1000">
                <a:solidFill>
                  <a:srgbClr val="64748B"/>
                </a:solidFill>
                <a:latin typeface="Calibri"/>
              </a:rPr>
              <a:t>Automated validation of complaint metadata, timestamps, product codes, and company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TIER 2: ML &amp; ANALYTICS CORE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Calibrated Linear SVM: </a:t>
            </a:r>
            <a:r>
              <a:rPr sz="1000">
                <a:solidFill>
                  <a:srgbClr val="64748B"/>
                </a:solidFill>
                <a:latin typeface="Calibri"/>
              </a:rPr>
              <a:t>High-margin hyperplane classification with Platt sigmoid calibration for compliant, bounded probability outputs.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Token Feature Attribution: </a:t>
            </a:r>
            <a:r>
              <a:rPr sz="1000">
                <a:solidFill>
                  <a:srgbClr val="64748B"/>
                </a:solidFill>
                <a:latin typeface="Calibri"/>
              </a:rPr>
              <a:t>Mathematical decision weights (w_i * x_i) showing exact positive and negative keywords driving every prediction.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Latent Topic Extraction (NMF): </a:t>
            </a:r>
            <a:r>
              <a:rPr sz="1000">
                <a:solidFill>
                  <a:srgbClr val="64748B"/>
                </a:solidFill>
                <a:latin typeface="Calibri"/>
              </a:rPr>
              <a:t>Non-Negative Matrix Factorization decomposing term-document matrix into 8 interpretable regulatory topics.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K-Means Document Clustering: </a:t>
            </a:r>
            <a:r>
              <a:rPr sz="1000">
                <a:solidFill>
                  <a:srgbClr val="64748B"/>
                </a:solidFill>
                <a:latin typeface="Calibri"/>
              </a:rPr>
              <a:t>Vector space clustering (k=5) with silhouette score optimization for unsupervised cohort analysis.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Time-Series Anomaly Engine: </a:t>
            </a:r>
            <a:r>
              <a:rPr sz="1000">
                <a:solidFill>
                  <a:srgbClr val="64748B"/>
                </a:solidFill>
                <a:latin typeface="Calibri"/>
              </a:rPr>
              <a:t>Day-of-Week normalized Rolling MAD z-scores combined with Isolation Forest ensemble.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Damped Holt-Winters Forecasting: </a:t>
            </a:r>
            <a:r>
              <a:rPr sz="1000">
                <a:solidFill>
                  <a:srgbClr val="64748B"/>
                </a:solidFill>
                <a:latin typeface="Calibri"/>
              </a:rPr>
              <a:t>Triple exponential smoothing with additive weekly seasonality and trend damping parameter.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TIER 3: APPLICATION &amp; UI LAYER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FastAPI High-Speed Backend: </a:t>
            </a:r>
            <a:r>
              <a:rPr sz="1000">
                <a:solidFill>
                  <a:srgbClr val="64748B"/>
                </a:solidFill>
                <a:latin typeface="Calibri"/>
              </a:rPr>
              <a:t>Asynchronous Python 3.13 REST API server delivering sub-50ms p95 latency on inference endpoints.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SQLite Transactional Store: </a:t>
            </a:r>
            <a:r>
              <a:rPr sz="1000">
                <a:solidFill>
                  <a:srgbClr val="64748B"/>
                </a:solidFill>
                <a:latin typeface="Calibri"/>
              </a:rPr>
              <a:t>Persistent database holding complaints, predictions, audit histories, and active alert statuses.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React 18 &amp; TypeScript SPA: </a:t>
            </a:r>
            <a:r>
              <a:rPr sz="1000">
                <a:solidFill>
                  <a:srgbClr val="64748B"/>
                </a:solidFill>
                <a:latin typeface="Calibri"/>
              </a:rPr>
              <a:t>Modern responsive web dashboard featuring TailwindCSS, Lucide icons, and Recharts interactive graphics.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Alert State Machine: </a:t>
            </a:r>
            <a:r>
              <a:rPr sz="1000">
                <a:solidFill>
                  <a:srgbClr val="64748B"/>
                </a:solidFill>
                <a:latin typeface="Calibri"/>
              </a:rPr>
              <a:t>Deduplicated incident lifecycle (Triggered -&gt; Investigating -&gt; Resolved) with immutable audit logging.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Cloudflare Edge Tunnel: </a:t>
            </a:r>
            <a:r>
              <a:rPr sz="1000">
                <a:solidFill>
                  <a:srgbClr val="64748B"/>
                </a:solidFill>
                <a:latin typeface="Calibri"/>
              </a:rPr>
              <a:t>Secure zero-open-port edge tunneling allowing real-time global accessibility and peer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COMMAND CENTER UI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Home Command Center &amp; Executive KPI Ribbon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Unified single-pane operational view delivering situational awareness across volume, anomalies, and active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58521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●  LIVE OVERVIEW INTERFACE (COMMAND CENTER)</a:t>
            </a:r>
          </a:p>
        </p:txBody>
      </p:sp>
      <p:pic>
        <p:nvPicPr>
          <p:cNvPr id="8" name="Picture 7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521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783080"/>
            <a:ext cx="43278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62095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EXECUTIVE OPERATIONAL DASHBOARD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Real-Time KPI Ribbon: </a:t>
            </a:r>
            <a:r>
              <a:rPr sz="1000">
                <a:solidFill>
                  <a:srgbClr val="64748B"/>
                </a:solidFill>
                <a:latin typeface="Calibri"/>
              </a:rPr>
              <a:t>Instant visibility into Total Complaints (6,956), Active Anomaly Signals (5), Critical Incident Alerts, and Model Calibration status.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30-Day Volume Trajectory: </a:t>
            </a:r>
            <a:r>
              <a:rPr sz="1000">
                <a:solidFill>
                  <a:srgbClr val="64748B"/>
                </a:solidFill>
                <a:latin typeface="Calibri"/>
              </a:rPr>
              <a:t>Interactive Recharts dual-line time series displaying daily incoming complaints alongside moving averages and highlighted anomaly spikes.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Product Distribution Breakdown: </a:t>
            </a:r>
            <a:r>
              <a:rPr sz="1000">
                <a:solidFill>
                  <a:srgbClr val="64748B"/>
                </a:solidFill>
                <a:latin typeface="Calibri"/>
              </a:rPr>
              <a:t>Visual breakdown across 5 major financial products: Credit Cards, Mortgages, Student Loans, Debt Collection, Bank Accounts.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Submission Channel Mix: </a:t>
            </a:r>
            <a:r>
              <a:rPr sz="1000">
                <a:solidFill>
                  <a:srgbClr val="64748B"/>
                </a:solidFill>
                <a:latin typeface="Calibri"/>
              </a:rPr>
              <a:t>Tracks intake across Web, Phone, Mail, and Referral channels to monitor ingestion channel health.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Embedded Live Quick Predictor: </a:t>
            </a:r>
            <a:r>
              <a:rPr sz="1000">
                <a:solidFill>
                  <a:srgbClr val="64748B"/>
                </a:solidFill>
                <a:latin typeface="Calibri"/>
              </a:rPr>
              <a:t>Allows operations managers to paste raw narrative text right on the home screen for instantaneous classification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OPERATIONAL TOOLING &amp; RECORD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Complaint Explorer, Smart Presets &amp; Audit Trail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High-throughput search and detailed narrative drawer engineered for compliance analysts and auditors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3278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962095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TRIAGE &amp; AUDITING CAPABILITIES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Sub-10ms Debounced Search: </a:t>
            </a:r>
            <a:r>
              <a:rPr sz="1000">
                <a:solidFill>
                  <a:srgbClr val="64748B"/>
                </a:solidFill>
                <a:latin typeface="Calibri"/>
              </a:rPr>
              <a:t>Fast client-side full-text search across 6,956 consumer narratives with instant keyword matching and highlighting.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Curated One-Click Presets: </a:t>
            </a:r>
            <a:r>
              <a:rPr sz="1000">
                <a:solidFill>
                  <a:srgbClr val="64748B"/>
                </a:solidFill>
                <a:latin typeface="Calibri"/>
              </a:rPr>
              <a:t>Instant operational filters including 'Urgent Disputed', 'Identity Theft', 'Student Loans / Mortgages', and 'Recent 30 Days'.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Multi-Faceted Filtering: </a:t>
            </a:r>
            <a:r>
              <a:rPr sz="1000">
                <a:solidFill>
                  <a:srgbClr val="64748B"/>
                </a:solidFill>
                <a:latin typeface="Calibri"/>
              </a:rPr>
              <a:t>Simultaneously filter by Product vertical, Issue category, Submission Channel, and Anomaly surge status.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Slide-Out Narrative Drawer: </a:t>
            </a:r>
            <a:r>
              <a:rPr sz="1000">
                <a:solidFill>
                  <a:srgbClr val="64748B"/>
                </a:solidFill>
                <a:latin typeface="Calibri"/>
              </a:rPr>
              <a:t>Clicking any record opens a detailed drawer displaying verbatim consumer narratives, company responses, and regulatory tags.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Analyst Actionability: </a:t>
            </a:r>
            <a:r>
              <a:rPr sz="1000">
                <a:solidFill>
                  <a:srgbClr val="64748B"/>
                </a:solidFill>
                <a:latin typeface="Calibri"/>
              </a:rPr>
              <a:t>Enables rapid escalation of high-risk complaints directly from the search view to mitigate regulatory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2255" y="1783080"/>
            <a:ext cx="6217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5135" y="1892808"/>
            <a:ext cx="58521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●  COMPLAINT EXPLORER INTERFACE &amp; FILTER PRESETS</a:t>
            </a:r>
          </a:p>
        </p:txBody>
      </p:sp>
      <p:pic>
        <p:nvPicPr>
          <p:cNvPr id="10" name="Picture 9" descr="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2304288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NLP &amp; 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Sublinear TF-IDF &amp; Calibrated Linear Support Vector Machine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Robust multi-class document classification pipeline achieving 89.6% accuracy over financial narratives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58521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●  NLP INTELLIGENCE VIEW: TOKENS, CATEGORIES &amp; ACCURACY</a:t>
            </a:r>
          </a:p>
        </p:txBody>
      </p:sp>
      <p:pic>
        <p:nvPicPr>
          <p:cNvPr id="8" name="Picture 7" descr="n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521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783080"/>
            <a:ext cx="43278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62095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TEXT CLASSIFICATION ARCHITECTURE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Sublinear Term Frequency: </a:t>
            </a:r>
            <a:r>
              <a:rPr sz="1000">
                <a:solidFill>
                  <a:srgbClr val="64748B"/>
                </a:solidFill>
                <a:latin typeface="Calibri"/>
              </a:rPr>
              <a:t>Applies 1 + log(tf) scaling to compress term frequencies, preventing common repetitive financial jargon from skewing vectors.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N-Gram Vocabulary Capture: </a:t>
            </a:r>
            <a:r>
              <a:rPr sz="1000">
                <a:solidFill>
                  <a:srgbClr val="64748B"/>
                </a:solidFill>
                <a:latin typeface="Calibri"/>
              </a:rPr>
              <a:t>Captures 10,000 unigram and bigram features, retaining critical compound expressions like 'late fee', 'credit report', 'unauthorized charge'.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Model Benchmark Comparison: </a:t>
            </a:r>
            <a:r>
              <a:rPr sz="1000">
                <a:solidFill>
                  <a:srgbClr val="64748B"/>
                </a:solidFill>
                <a:latin typeface="Calibri"/>
              </a:rPr>
              <a:t>Evaluated Multinomial Naive Bayes (82.1%), Logistic Regression (87.4%), and Calibrated Linear SVM (89.6%).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Convex Hyperplane Separation: </a:t>
            </a:r>
            <a:r>
              <a:rPr sz="1000">
                <a:solidFill>
                  <a:srgbClr val="64748B"/>
                </a:solidFill>
                <a:latin typeface="Calibri"/>
              </a:rPr>
              <a:t>Linear SVM outperforms tree models in high-dimensional sparse text space by maximizing the separation margin between product classes.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Platt Sigmoid Calibration: </a:t>
            </a:r>
            <a:r>
              <a:rPr sz="1000">
                <a:solidFill>
                  <a:srgbClr val="64748B"/>
                </a:solidFill>
                <a:latin typeface="Calibri"/>
              </a:rPr>
              <a:t>Applies sigmoid calibration P(y|f) = 1 / (1 + exp(A*f + B)) to convert raw margin distances into true posterior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MODEL EXPLAINABILITY &amp; 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White-Box Interpretability &amp; Live Decision Explainer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Eliminating the black-box adoption barrier through transparent token-level mathematical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1. MATHEMATICAL FORMULATION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Exact Linear Attribution: </a:t>
            </a:r>
            <a:r>
              <a:rPr sz="1000">
                <a:solidFill>
                  <a:srgbClr val="64748B"/>
                </a:solidFill>
                <a:latin typeface="Calibri"/>
              </a:rPr>
              <a:t>The decision logit for class c is the direct dot product: z_c = b_c + SUM(w_{c,i} * x_i).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Word-Level Justification: </a:t>
            </a:r>
            <a:r>
              <a:rPr sz="1000">
                <a:solidFill>
                  <a:srgbClr val="64748B"/>
                </a:solidFill>
                <a:latin typeface="Calibri"/>
              </a:rPr>
              <a:t>Every token in the complaint is scored individually: positive weights push toward the predicted class; negative weights penalize alternative categories.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Regulatory Transparency: </a:t>
            </a:r>
            <a:r>
              <a:rPr sz="1000">
                <a:solidFill>
                  <a:srgbClr val="64748B"/>
                </a:solidFill>
                <a:latin typeface="Calibri"/>
              </a:rPr>
              <a:t>Compliance officers can present exact mathematical token weights during regulatory audits without resorting to heuristic approximations.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Zero Inference Overhead: </a:t>
            </a:r>
            <a:r>
              <a:rPr sz="1000">
                <a:solidFill>
                  <a:srgbClr val="64748B"/>
                </a:solidFill>
                <a:latin typeface="Calibri"/>
              </a:rPr>
              <a:t>Because feature weights are pre-computed during model training, local explanations compute in less than 2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2. DOMAIN FEATURE PATTERNS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Credit Reporting: </a:t>
            </a:r>
            <a:r>
              <a:rPr sz="1000">
                <a:solidFill>
                  <a:srgbClr val="64748B"/>
                </a:solidFill>
                <a:latin typeface="Calibri"/>
              </a:rPr>
              <a:t>Dominant driving keywords: 'experian', 'equifax', 'transunion', 'credit report', 'inaccurate', 'score'.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Debt Collection: </a:t>
            </a:r>
            <a:r>
              <a:rPr sz="1000">
                <a:solidFill>
                  <a:srgbClr val="64748B"/>
                </a:solidFill>
                <a:latin typeface="Calibri"/>
              </a:rPr>
              <a:t>Dominant driving keywords: 'harass', 'threaten', 'collector', 'debt validation', 'cease and desist', 'phone calls'.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Mortgages &amp; Escrow: </a:t>
            </a:r>
            <a:r>
              <a:rPr sz="1000">
                <a:solidFill>
                  <a:srgbClr val="64748B"/>
                </a:solidFill>
                <a:latin typeface="Calibri"/>
              </a:rPr>
              <a:t>Dominant driving keywords: 'escrow', 'foreclosure', 'loan servicer', 'modification', 'property deed'.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Credit Card Disputes: </a:t>
            </a:r>
            <a:r>
              <a:rPr sz="1000">
                <a:solidFill>
                  <a:srgbClr val="64748B"/>
                </a:solidFill>
                <a:latin typeface="Calibri"/>
              </a:rPr>
              <a:t>Dominant driving keywords: 'unauthorized charge', 'late fee', 'billing dispute', 'fraudulent purchase', 'interest rate'.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3. INTERACTIVE TESTING SANDBOX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Real-Time Classification UI: </a:t>
            </a:r>
            <a:r>
              <a:rPr sz="1000">
                <a:solidFill>
                  <a:srgbClr val="64748B"/>
                </a:solidFill>
                <a:latin typeface="Calibri"/>
              </a:rPr>
              <a:t>Dedicated interactive prediction box allows analysts to paste customer emails, letters, or tickets for instant diagnosis.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Multi-Class Probability Distribution: </a:t>
            </a:r>
            <a:r>
              <a:rPr sz="1000">
                <a:solidFill>
                  <a:srgbClr val="64748B"/>
                </a:solidFill>
                <a:latin typeface="Calibri"/>
              </a:rPr>
              <a:t>Visualizes normalized confidence bars across all 5 financial products simultaneously.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Top Influential Keywords: </a:t>
            </a:r>
            <a:r>
              <a:rPr sz="1000">
                <a:solidFill>
                  <a:srgbClr val="64748B"/>
                </a:solidFill>
                <a:latin typeface="Calibri"/>
              </a:rPr>
              <a:t>Renders the top 5 positive feature keywords that exerted the greatest numerical influence on the classification outcome.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Sub-30ms Round-Trip: </a:t>
            </a:r>
            <a:r>
              <a:rPr sz="1000">
                <a:solidFill>
                  <a:srgbClr val="64748B"/>
                </a:solidFill>
                <a:latin typeface="Calibri"/>
              </a:rPr>
              <a:t>Powered by an optimized FastAPI REST endpoint (/api/ml/predict) for instantaneous operational decision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UNSUPERVISED DISCOVERY &amp; THEMATIC COHORTS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Latent Topic Extraction (NMF) &amp; Document Clustering (K-Means)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Automatically surfacing emerging regulatory themes and consumer behavior cohorts without human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3278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962095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UNSUPERVISED INSIGHT ENGINE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Non-Negative Matrix Factorization: </a:t>
            </a:r>
            <a:r>
              <a:rPr sz="1000">
                <a:solidFill>
                  <a:srgbClr val="64748B"/>
                </a:solidFill>
                <a:latin typeface="Calibri"/>
              </a:rPr>
              <a:t>Decomposes the term-document matrix V (N x M) into non-negative factor matrices W (documents x topics) and H (topics x terms).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8 Latent Thematic Topics: </a:t>
            </a:r>
            <a:r>
              <a:rPr sz="1000">
                <a:solidFill>
                  <a:srgbClr val="64748B"/>
                </a:solidFill>
                <a:latin typeface="Calibri"/>
              </a:rPr>
              <a:t>Automatically extracts distinct complaint archetypes without supervision: Credit Inaccuracies, Debt Collector Harassment, Mortgage Escrow, Card Fee Disputes, etc.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Intuitive Parts-Based Semantics: </a:t>
            </a:r>
            <a:r>
              <a:rPr sz="1000">
                <a:solidFill>
                  <a:srgbClr val="64748B"/>
                </a:solidFill>
                <a:latin typeface="Calibri"/>
              </a:rPr>
              <a:t>Unlike LDA or SVD, non-negativity guarantees purely additive combinations, resulting in cleaner, interpretable topics for business teams.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K-Means Clustering (k=5): </a:t>
            </a:r>
            <a:r>
              <a:rPr sz="1000">
                <a:solidFill>
                  <a:srgbClr val="64748B"/>
                </a:solidFill>
                <a:latin typeface="Calibri"/>
              </a:rPr>
              <a:t>Optimized using silhouette score analysis to partition complaint narratives into distinct behavioral cohorts.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Surfacing Emerging Risks: </a:t>
            </a:r>
            <a:r>
              <a:rPr sz="1000">
                <a:solidFill>
                  <a:srgbClr val="64748B"/>
                </a:solidFill>
                <a:latin typeface="Calibri"/>
              </a:rPr>
              <a:t>Identifies newly surging grievance themes before formal regulatory inquiries or class actions materialize.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2255" y="1783080"/>
            <a:ext cx="6217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5135" y="1892808"/>
            <a:ext cx="58521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●  ML INTELLIGENCE: NMF TOPICS &amp; DOCUMENT CLUSTERING</a:t>
            </a:r>
          </a:p>
        </p:txBody>
      </p:sp>
      <p:pic>
        <p:nvPicPr>
          <p:cNvPr id="10" name="Picture 9" descr="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2304288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SURVEILLANCE ALGORITHMS &amp; VOLUME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Seasonality-Adjusted Rolling MAD &amp; Isolation Forest Engine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Dual-layer anomaly surveillance eliminating weekend false alarms and detecting operational complaint surges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1. DAY-OF-WEEK ROLLING MAD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The Weekend Seasonality Problem: </a:t>
            </a:r>
            <a:r>
              <a:rPr sz="1000">
                <a:solidFill>
                  <a:srgbClr val="64748B"/>
                </a:solidFill>
                <a:latin typeface="Calibri"/>
              </a:rPr>
              <a:t>Complaint volume drops 70% every Saturday/Sunday. Standard 3-sigma Gaussian z-scores flag every Monday as an anomaly and miss severe weekend spikes.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DoW Partitioning (28 Days): </a:t>
            </a:r>
            <a:r>
              <a:rPr sz="1000">
                <a:solidFill>
                  <a:srgbClr val="64748B"/>
                </a:solidFill>
                <a:latin typeface="Calibri"/>
              </a:rPr>
              <a:t>ComplaintIQ evaluates volume relative to the median of the same day-of-week over a trailing 28-day window.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Robust Scale Estimator: </a:t>
            </a:r>
            <a:r>
              <a:rPr sz="1000">
                <a:solidFill>
                  <a:srgbClr val="64748B"/>
                </a:solidFill>
                <a:latin typeface="Calibri"/>
              </a:rPr>
              <a:t>Formula: Modified Z = (x_t - Median_d) / (MAD_d * 1.4826). The median and MAD are immune to historical extreme outliers.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Zero Baseline Distortion: </a:t>
            </a:r>
            <a:r>
              <a:rPr sz="1000">
                <a:solidFill>
                  <a:srgbClr val="64748B"/>
                </a:solidFill>
                <a:latin typeface="Calibri"/>
              </a:rPr>
              <a:t>Prior historical surge events do not artificially inflate future standard deviations, preserving detection sensitivity.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2. MULTIVARIATE ISOLATION FOREST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Multi-Dimensional Features: </a:t>
            </a:r>
            <a:r>
              <a:rPr sz="1000">
                <a:solidFill>
                  <a:srgbClr val="64748B"/>
                </a:solidFill>
                <a:latin typeface="Calibri"/>
              </a:rPr>
              <a:t>Evaluates daily complaint count, 3-day volume acceleration (second derivative), and consumer dispute ratio simultaneously.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Ensemble of 100 Isolation Trees: </a:t>
            </a:r>
            <a:r>
              <a:rPr sz="1000">
                <a:solidFill>
                  <a:srgbClr val="64748B"/>
                </a:solidFill>
                <a:latin typeface="Calibri"/>
              </a:rPr>
              <a:t>Partitions feature space with random axis-aligned splits; anomalies require fewer splits and isolate near root nodes.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Anomaly Score Formulation: </a:t>
            </a:r>
            <a:r>
              <a:rPr sz="1000">
                <a:solidFill>
                  <a:srgbClr val="64748B"/>
                </a:solidFill>
                <a:latin typeface="Calibri"/>
              </a:rPr>
              <a:t>Computes average path length E(h(x)) normalized against average tree depth; scores above threshold indicate abnormal multi-variate events.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Non-Parametric Flexibility: </a:t>
            </a:r>
            <a:r>
              <a:rPr sz="1000">
                <a:solidFill>
                  <a:srgbClr val="64748B"/>
                </a:solidFill>
                <a:latin typeface="Calibri"/>
              </a:rPr>
              <a:t>Detects complex non-linear combinations of velocity and dispute spikes without assuming Gaussian distributions.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Calibri"/>
              </a:defRPr>
            </a:pPr>
            <a:r>
              <a:t>3. TIERED SEVERITY MATRIX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INFO Severity (Z &gt;= 2.0): </a:t>
            </a:r>
            <a:r>
              <a:rPr sz="1000">
                <a:solidFill>
                  <a:srgbClr val="64748B"/>
                </a:solidFill>
                <a:latin typeface="Calibri"/>
              </a:rPr>
              <a:t>Minor statistical elevation; recorded in surveillance ledger for trend monitoring without disturbing on-call staff.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WARNING Severity (Z &gt;= 2.5): </a:t>
            </a:r>
            <a:r>
              <a:rPr sz="1000">
                <a:solidFill>
                  <a:srgbClr val="64748B"/>
                </a:solidFill>
                <a:latin typeface="Calibri"/>
              </a:rPr>
              <a:t>Actionable volume surge; notifies operations leads for queue prioritization and triage allocation.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CRITICAL Severity (Z &gt;= 3.0): </a:t>
            </a:r>
            <a:r>
              <a:rPr sz="1000">
                <a:solidFill>
                  <a:srgbClr val="64748B"/>
                </a:solidFill>
                <a:latin typeface="Calibri"/>
              </a:rPr>
              <a:t>Severe systemic crisis (e.g. major gateway outage or billing failure); automatically triggers an incident alert ticket.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Operational Impact: </a:t>
            </a:r>
            <a:r>
              <a:rPr sz="1000">
                <a:solidFill>
                  <a:srgbClr val="64748B"/>
                </a:solidFill>
                <a:latin typeface="Calibri"/>
              </a:rPr>
              <a:t>Successfully filtered out 100% of false weekend alerts in historical backtests while capturing all confirmed crisis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PREDICTIVE MODELING &amp; CAPACITY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Damped Additive Holt-Winters Exponential Smoothing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Anticipating future complaint volumes to optimize compliance workforce staffing and safeguard regulatory SLAs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1. TRIPLE EXPONENTIAL SMOOTHING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Level Smoothing (l_t): </a:t>
            </a:r>
            <a:r>
              <a:rPr sz="1000">
                <a:solidFill>
                  <a:srgbClr val="64748B"/>
                </a:solidFill>
                <a:latin typeface="Calibri"/>
              </a:rPr>
              <a:t>l_t = alpha * (x_t - s_{t-m}) + (1 - alpha) * (l_{t-1} + phi * b_{t-1}). Dynamically updates baseline volume.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Trend Smoothing (b_t): </a:t>
            </a:r>
            <a:r>
              <a:rPr sz="1000">
                <a:solidFill>
                  <a:srgbClr val="64748B"/>
                </a:solidFill>
                <a:latin typeface="Calibri"/>
              </a:rPr>
              <a:t>b_t = beta * (l_t - l_{t-1}) + (1 - beta) * phi * b_{t-1}. Captures directional trajectory over time.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Seasonality Smoothing (s_t): </a:t>
            </a:r>
            <a:r>
              <a:rPr sz="1000">
                <a:solidFill>
                  <a:srgbClr val="64748B"/>
                </a:solidFill>
                <a:latin typeface="Calibri"/>
              </a:rPr>
              <a:t>s_t = gamma * (x_t - l_{t-1} - phi * b_{t-1}) + (1 - gamma) * s_{t-m}. Models 7-day cyclical weekly volume patterns (m=7).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Trend Damping (phi = 0.90): </a:t>
            </a:r>
            <a:r>
              <a:rPr sz="1000">
                <a:solidFill>
                  <a:srgbClr val="64748B"/>
                </a:solidFill>
                <a:latin typeface="Calibri"/>
              </a:rPr>
              <a:t>Damps the linear trend component to prevent unrealistically steep forecasts over 14-day and 30-day horizons.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2. WALK-FORWARD BACKTESTING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Strict Chronological Splits: </a:t>
            </a:r>
            <a:r>
              <a:rPr sz="1000">
                <a:solidFill>
                  <a:srgbClr val="64748B"/>
                </a:solidFill>
                <a:latin typeface="Calibri"/>
              </a:rPr>
              <a:t>Evaluated using expanding-window backtesting; ensures zero future data leakage or lookahead bias.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Seasonal Naive Baseline: </a:t>
            </a:r>
            <a:r>
              <a:rPr sz="1000">
                <a:solidFill>
                  <a:srgbClr val="64748B"/>
                </a:solidFill>
                <a:latin typeface="Calibri"/>
              </a:rPr>
              <a:t>7-Day Seasonal Naive benchmark achieved Mean Absolute Error (MAE) of 14.2 complaints/day.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Rolling Mean Baseline: </a:t>
            </a:r>
            <a:r>
              <a:rPr sz="1000">
                <a:solidFill>
                  <a:srgbClr val="64748B"/>
                </a:solidFill>
                <a:latin typeface="Calibri"/>
              </a:rPr>
              <a:t>14-Day Rolling Mean benchmark achieved MAE of 12.8 complaints/day.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Damped Holt-Winters Result: </a:t>
            </a:r>
            <a:r>
              <a:rPr sz="1000">
                <a:solidFill>
                  <a:srgbClr val="64748B"/>
                </a:solidFill>
                <a:latin typeface="Calibri"/>
              </a:rPr>
              <a:t>Achieved superior MAE of 8.6 and RMSE of 11.2, reducing forecast error by over 32% compared to baselines.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83080"/>
            <a:ext cx="336499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1965960"/>
            <a:ext cx="2999232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3. CAPACITY PLANNING IMPACT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14-Day &amp; 30-Day Projections: </a:t>
            </a:r>
            <a:r>
              <a:rPr sz="1000">
                <a:solidFill>
                  <a:srgbClr val="64748B"/>
                </a:solidFill>
                <a:latin typeface="Calibri"/>
              </a:rPr>
              <a:t>Delivers daily expected complaint influx with 80% and 95% confidence bounds for risk management.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Workforce Staffing Alignment: </a:t>
            </a:r>
            <a:r>
              <a:rPr sz="1000">
                <a:solidFill>
                  <a:srgbClr val="64748B"/>
                </a:solidFill>
                <a:latin typeface="Calibri"/>
              </a:rPr>
              <a:t>Enables operations managers to schedule complaint resolution officers based on expected weekly volume peaks.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SLA Breach Prevention: </a:t>
            </a:r>
            <a:r>
              <a:rPr sz="1000">
                <a:solidFill>
                  <a:srgbClr val="64748B"/>
                </a:solidFill>
                <a:latin typeface="Calibri"/>
              </a:rPr>
              <a:t>Prevents regulatory response backlog before spikes happen, decreasing the risk of statutory fine violations.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Automated Re-training: </a:t>
            </a:r>
            <a:r>
              <a:rPr sz="1000">
                <a:solidFill>
                  <a:srgbClr val="64748B"/>
                </a:solidFill>
                <a:latin typeface="Calibri"/>
              </a:rPr>
              <a:t>Pipeline periodically updates parameters to adapt to long-term macro trend shifts in complaint volume.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INCIDENT RESPONSE &amp; OPERATIONAL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Automated Incident Generation, Deduplication &amp; Triage Workflow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Closing the loop between machine learning surge detection and human operational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ComplaintIQ — Autonomous Financial Grievance Intelligence &amp; Forecasting Platform  |  Slide 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17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585216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F46E5"/>
                </a:solidFill>
                <a:latin typeface="Calibri"/>
              </a:defRPr>
            </a:pPr>
            <a:r>
              <a:t>●  ALERT CENTER: INCIDENT TRIAGE, DEDUP &amp; RESOLUTION LEDGER</a:t>
            </a:r>
          </a:p>
        </p:txBody>
      </p:sp>
      <p:pic>
        <p:nvPicPr>
          <p:cNvPr id="8" name="Picture 7" descr="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521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783080"/>
            <a:ext cx="43278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3962095" cy="4069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INCIDENT LIFECYCLE MANAGEMENT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Automated Incident Triggering: </a:t>
            </a:r>
            <a:r>
              <a:rPr sz="1000">
                <a:solidFill>
                  <a:srgbClr val="64748B"/>
                </a:solidFill>
                <a:latin typeface="Calibri"/>
              </a:rPr>
              <a:t>Surge events exceeding z-score threshold automatically generate persistent incident records in SQLite database.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Deterministic Deduplication: </a:t>
            </a:r>
            <a:r>
              <a:rPr sz="1000">
                <a:solidFill>
                  <a:srgbClr val="64748B"/>
                </a:solidFill>
                <a:latin typeface="Calibri"/>
              </a:rPr>
              <a:t>Generates unique deduplication key: hash(product, anomaly_type, date_bucket). Prevents alert storms and notification fatigue during multi-day surges.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Analyst State Lifecycle: </a:t>
            </a:r>
            <a:r>
              <a:rPr sz="1000">
                <a:solidFill>
                  <a:srgbClr val="64748B"/>
                </a:solidFill>
                <a:latin typeface="Calibri"/>
              </a:rPr>
              <a:t>Strict operational state machine: NEW / TRIGGERED -&gt; INVESTIGATING -&gt; RESOLVED / ACKNOWLEDGED with real-time UI status toggles.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Root Cause Attribution: </a:t>
            </a:r>
            <a:r>
              <a:rPr sz="1000">
                <a:solidFill>
                  <a:srgbClr val="64748B"/>
                </a:solidFill>
                <a:latin typeface="Calibri"/>
              </a:rPr>
              <a:t>Compliance officers record investigation findings and assign root cause tags (e.g. Core Banking Glitch, Policy Change, False Positive).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0F172A"/>
                </a:solidFill>
                <a:latin typeface="Calibri"/>
              </a:rPr>
              <a:t>•  Immutable Audit Trail: </a:t>
            </a:r>
            <a:r>
              <a:rPr sz="1000">
                <a:solidFill>
                  <a:srgbClr val="64748B"/>
                </a:solidFill>
                <a:latin typeface="Calibri"/>
              </a:rPr>
              <a:t>Maintains full timestamped audit logs of all analyst actions for regulatory review and SLA compliance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4754880" cy="256032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 lIns="101600" rIns="101600"/>
          <a:lstStyle/>
          <a:p>
            <a:pPr algn="ctr">
              <a:defRPr sz="850" b="1">
                <a:solidFill>
                  <a:srgbClr val="818CF8"/>
                </a:solidFill>
                <a:latin typeface="Calibri"/>
              </a:defRPr>
            </a:pPr>
            <a:r>
              <a:t>CAPSTONE SYNTHESIS &amp; TECHNICAL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5156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Calibri"/>
              </a:defRPr>
            </a:pPr>
            <a:r>
              <a:t>ComplaintIQ: Outcomes, Team Contributions &amp; Roadmap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Comprehensive evaluation of system achievements, individual contributions, and future architectural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ComplaintIQ — Autonomous Financial Grievance Intelligence &amp; Forecasting Platform  |  Slide 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11096"/>
            <a:ext cx="2249424" cy="2075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Aryan Turalkar</a:t>
            </a:r>
          </a:p>
          <a:p>
            <a:pPr>
              <a:spcBef>
                <a:spcPts val="200"/>
              </a:spcBef>
              <a:defRPr sz="850" b="1">
                <a:solidFill>
                  <a:srgbClr val="06B6D4"/>
                </a:solidFill>
                <a:latin typeface="Calibri"/>
              </a:defRPr>
            </a:pPr>
            <a:r>
              <a:t>Roll No: A152  •  NLP &amp; Classification Lead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Engineered sublinear TF-IDF vectorization with 10k unigrams/bigrams.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Trained LinearSVC achieving 89.6% classification accuracy.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Implemented Platt scaling for calibrated probabilities.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Formulated linear feature attribution (w_i * x_i) for white-box interpretability.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83080"/>
            <a:ext cx="2542032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11096"/>
            <a:ext cx="2249424" cy="2075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Suryansh Saraf</a:t>
            </a:r>
          </a:p>
          <a:p>
            <a:pPr>
              <a:spcBef>
                <a:spcPts val="200"/>
              </a:spcBef>
              <a:defRPr sz="850" b="1">
                <a:solidFill>
                  <a:srgbClr val="06B6D4"/>
                </a:solidFill>
                <a:latin typeface="Calibri"/>
              </a:defRPr>
            </a:pPr>
            <a:r>
              <a:t>Roll No: A-125  •  Full-Stack System Architect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Architected full-stack React 18, TypeScript &amp; TailwindCSS Command Center.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Developed FastAPI asynchronous backend with SQLite database.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Built Complaint Explorer with debounced search &amp; smart presets.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Configured Cloudflare Tunnel for secure global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83080"/>
            <a:ext cx="2542032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11096"/>
            <a:ext cx="2249424" cy="2075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Soham Hande</a:t>
            </a:r>
          </a:p>
          <a:p>
            <a:pPr>
              <a:spcBef>
                <a:spcPts val="200"/>
              </a:spcBef>
              <a:defRPr sz="850" b="1">
                <a:solidFill>
                  <a:srgbClr val="06B6D4"/>
                </a:solidFill>
                <a:latin typeface="Calibri"/>
              </a:defRPr>
            </a:pPr>
            <a:r>
              <a:t>Roll No: A-129  •  Anomaly Detection Engineer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Designed Day-of-Week normalized Rolling MAD algorithm.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Integrated multivariate Isolation Forest ensemble (100 trees).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Eliminated 100% of false weekend alerts in historical backtesting.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Established multi-tier severity thresholds (Info, Warning, Critical).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83080"/>
            <a:ext cx="2542032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911096"/>
            <a:ext cx="2249424" cy="20756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Pratham Deepak</a:t>
            </a:r>
          </a:p>
          <a:p>
            <a:pPr>
              <a:spcBef>
                <a:spcPts val="200"/>
              </a:spcBef>
              <a:defRPr sz="850" b="1">
                <a:solidFill>
                  <a:srgbClr val="06B6D4"/>
                </a:solidFill>
                <a:latin typeface="Calibri"/>
              </a:defRPr>
            </a:pPr>
            <a:r>
              <a:t>Roll No: A-114  •  Time-Series &amp; Operations Lead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Implemented Additive Damped Holt-Winters exponential smoothing.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Conducted walk-forward backtesting showing 32% error reduction.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Architected Alert Center state machine and deduplication engine.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818CF8"/>
                </a:solidFill>
              </a:rPr>
              <a:t>• </a:t>
            </a:r>
            <a:r>
              <a:rPr sz="850">
                <a:solidFill>
                  <a:srgbClr val="94A3B8"/>
                </a:solidFill>
                <a:latin typeface="Calibri"/>
              </a:rPr>
              <a:t>Built incident resolution logging and SLA compliance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266944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901184" cy="1691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Calibri"/>
              </a:defRPr>
            </a:pPr>
            <a:r>
              <a:t>KEY QUANTITATIVE ACCOMPLISHMENTS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89.6% Classification Accuracy: </a:t>
            </a:r>
            <a:r>
              <a:rPr sz="1000">
                <a:solidFill>
                  <a:srgbClr val="94A3B8"/>
                </a:solidFill>
                <a:latin typeface="Calibri"/>
              </a:rPr>
              <a:t>Calibrated Linear SVM outperforms traditional Naive Bayes and Logistic Regression baselines.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Sub-45ms p95 API Latency: </a:t>
            </a:r>
            <a:r>
              <a:rPr sz="1000">
                <a:solidFill>
                  <a:srgbClr val="94A3B8"/>
                </a:solidFill>
                <a:latin typeface="Calibri"/>
              </a:rPr>
              <a:t>High-throughput asynchronous FastAPI architecture enabling real-time production triage.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Zero Weekend False Positives: </a:t>
            </a:r>
            <a:r>
              <a:rPr sz="1000">
                <a:solidFill>
                  <a:srgbClr val="94A3B8"/>
                </a:solidFill>
                <a:latin typeface="Calibri"/>
              </a:rPr>
              <a:t>Day-of-Week normalized Rolling MAD successfully eliminates weekend seasonal bias.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32% Forecast Error Reduction: </a:t>
            </a:r>
            <a:r>
              <a:rPr sz="1000">
                <a:solidFill>
                  <a:srgbClr val="94A3B8"/>
                </a:solidFill>
                <a:latin typeface="Calibri"/>
              </a:rPr>
              <a:t>Damped Holt-Winters beats standard 7-day seasonal naive and rolling average baselines.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297680"/>
            <a:ext cx="5266944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434840"/>
            <a:ext cx="4901184" cy="1691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Calibri"/>
              </a:defRPr>
            </a:pPr>
            <a:r>
              <a:t>FUTURE ROADMAP &amp; PRODUCTION EXTENSIONS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Generative LLM Auto-Drafting: </a:t>
            </a:r>
            <a:r>
              <a:rPr sz="1000">
                <a:solidFill>
                  <a:srgbClr val="94A3B8"/>
                </a:solidFill>
                <a:latin typeface="Calibri"/>
              </a:rPr>
              <a:t>Fine-tuned LLM agents to draft legally compliant initial response letters for analyst review.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Distributed Stream Ingestion: </a:t>
            </a:r>
            <a:r>
              <a:rPr sz="1000">
                <a:solidFill>
                  <a:srgbClr val="94A3B8"/>
                </a:solidFill>
                <a:latin typeface="Calibri"/>
              </a:rPr>
              <a:t>Integrate Apache Kafka and Redis Streams for high-velocity multi-million message streaming.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Multilingual NLP Embeddings: </a:t>
            </a:r>
            <a:r>
              <a:rPr sz="1000">
                <a:solidFill>
                  <a:srgbClr val="94A3B8"/>
                </a:solidFill>
                <a:latin typeface="Calibri"/>
              </a:rPr>
              <a:t>Incorporate multilingual transformer embeddings to support Spanish and international complaints.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 Automated Model Drift Monitoring: </a:t>
            </a:r>
            <a:r>
              <a:rPr sz="1000">
                <a:solidFill>
                  <a:srgbClr val="94A3B8"/>
                </a:solidFill>
                <a:latin typeface="Calibri"/>
              </a:rPr>
              <a:t>Continuous Kolmogorov-Smirnov test tracking covariate shift in customer complaint vocabularies.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818CF8"/>
                </a:solidFill>
                <a:latin typeface="Calibri"/>
              </a:defRPr>
            </a:pPr>
            <a:r>
              <a:t>THANK YOU  •  QUESTIONS &amp; DISCUSSION  •  COMPLAINTIQ ACADEMIC CAPSTONE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